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1"/>
                </a:solidFill>
                <a:latin typeface="Calibri"/>
              </a:rPr>
              <a:t>Supervivencia global según fosforilación de STAT3 (esquema)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Tercio inferior de p-STAT3</c:v>
                </c:pt>
              </c:strCache>
            </c:strRef>
          </c:tx>
          <c:spPr>
            <a:solidFill>
              <a:srgbClr val="0E9C90"/>
            </a:solidFill>
            <a:ln w="38100" cap="flat">
              <a:solidFill>
                <a:srgbClr val="0E9C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9C90"/>
              </a:solidFill>
              <a:ln w="9525" cap="flat">
                <a:solidFill>
                  <a:srgbClr val="0E9C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0.78</c:v>
                </c:pt>
                <c:pt idx="2">
                  <c:v>0.62</c:v>
                </c:pt>
                <c:pt idx="3">
                  <c:v>0.52</c:v>
                </c:pt>
                <c:pt idx="4">
                  <c:v>0.45</c:v>
                </c:pt>
                <c:pt idx="5">
                  <c:v>0.41</c:v>
                </c:pt>
                <c:pt idx="6">
                  <c:v>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Dos tercios superiores de p-STAT3</c:v>
                </c:pt>
              </c:strCache>
            </c:strRef>
          </c:tx>
          <c:spPr>
            <a:solidFill>
              <a:srgbClr val="7A1F2B"/>
            </a:solidFill>
            <a:ln w="3810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0.55</c:v>
                </c:pt>
                <c:pt idx="2">
                  <c:v>0.32</c:v>
                </c:pt>
                <c:pt idx="3">
                  <c:v>0.22</c:v>
                </c:pt>
                <c:pt idx="4">
                  <c:v>0.18</c:v>
                </c:pt>
                <c:pt idx="5">
                  <c:v>0.16</c:v>
                </c:pt>
                <c:pt idx="6">
                  <c:v>0.15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Años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A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Probabilidad de supervivencia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1"/>
                </a:solidFill>
                <a:latin typeface="Calibri"/>
              </a:rPr>
              <a:t>Expresión génica relativa (qPCR, aprox.)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 parental</c:v>
                </c:pt>
              </c:strCache>
            </c:strRef>
          </c:tx>
          <c:spPr>
            <a:solidFill>
              <a:srgbClr val="E7E9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STAT3</c:v>
                  </c:pt>
                  <c:pt idx="1">
                    <c:v>MCL1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Resistente a venetoclax (Ven-Res)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STAT3</c:v>
                  </c:pt>
                  <c:pt idx="1">
                    <c:v>MCL1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1.5</c:v>
                </c:pt>
                <c:pt idx="1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A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A6472"/>
                    </a:solidFill>
                    <a:latin typeface="Arial"/>
                  </a:rPr>
                  <a:t>Cambio normalizado (veces)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 de KTX-105 (Ven-Res)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Despolarización inducida por NOXA (dependiente de MCL1)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 de KTX-105 (Ven-Res)</c:v>
                </c:pt>
              </c:strCache>
            </c:strRef>
          </c:tx>
          <c:spPr>
            <a:solidFill>
              <a:srgbClr val="0E9C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Despolarización inducida por NOXA (dependiente de MCL1)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DA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1"/>
                </a:solidFill>
                <a:latin typeface="Calibri"/>
              </a:rPr>
              <a:t>Curva de supervivencia (esquemática)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Vehículo (PBS)</c:v>
                </c:pt>
              </c:strCache>
            </c:strRef>
          </c:tx>
          <c:spPr>
            <a:solidFill>
              <a:srgbClr val="7A1F2B"/>
            </a:solidFill>
            <a:ln w="3810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20</c:v>
                  </c:pt>
                  <c:pt idx="2">
                    <c:v>40</c:v>
                  </c:pt>
                  <c:pt idx="3">
                    <c:v>60</c:v>
                  </c:pt>
                  <c:pt idx="4">
                    <c:v>76</c:v>
                  </c:pt>
                  <c:pt idx="5">
                    <c:v>90</c:v>
                  </c:pt>
                  <c:pt idx="6">
                    <c:v>100</c:v>
                  </c:pt>
                  <c:pt idx="7">
                    <c:v>120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KT-333</c:v>
                </c:pt>
              </c:strCache>
            </c:strRef>
          </c:tx>
          <c:spPr>
            <a:solidFill>
              <a:srgbClr val="0E9C90"/>
            </a:solidFill>
            <a:ln w="38100" cap="flat">
              <a:solidFill>
                <a:srgbClr val="0E9C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9C90"/>
              </a:solidFill>
              <a:ln w="9525" cap="flat">
                <a:solidFill>
                  <a:srgbClr val="0E9C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20</c:v>
                  </c:pt>
                  <c:pt idx="2">
                    <c:v>40</c:v>
                  </c:pt>
                  <c:pt idx="3">
                    <c:v>60</c:v>
                  </c:pt>
                  <c:pt idx="4">
                    <c:v>76</c:v>
                  </c:pt>
                  <c:pt idx="5">
                    <c:v>90</c:v>
                  </c:pt>
                  <c:pt idx="6">
                    <c:v>100</c:v>
                  </c:pt>
                  <c:pt idx="7">
                    <c:v>120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60</c:v>
                </c:pt>
                <c:pt idx="6">
                  <c:v>20</c:v>
                </c:pt>
                <c:pt idx="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Días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A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Supervivencia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58161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3291840" cy="329184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58161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658368" cy="65836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6" name="Image 0" descr="assets/dn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8569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7132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SIMPOSIO DE HEMATOLOGÍA · SESIÓN DE INVESTIGACIÓN TRASLACIONAL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Degradar STAT3 para vencer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resistencia a Venetoclax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nueva diana terapéutica — y un fármaco ya en ensayo clínico — frente a la LMA resistente a venetoclax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58161F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2303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S, Morganti C, Zaldana K, et al.  </a:t>
            </a:r>
            <a:pPr indent="0" marL="0">
              <a:buNone/>
            </a:pPr>
            <a:r>
              <a:rPr lang="en-US" sz="1350" i="1" dirty="0">
                <a:solidFill>
                  <a:srgbClr val="F0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STAT3 degrader demonstrates efficacy in venetoclax resistant acute myeloid leukemia.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" y="56692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(2026) 40:717–729  ·  DOI: 10.1038/s41375-026-02883-9  ·  Open Access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resistencia mitocondrial a una nueva terapia dirigida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1305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9" name="Image 1" descr="assets/hospit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01" y="302776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6576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clínico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85800" y="4480560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LMA recae tras venetoclax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29000" y="21305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3429000" y="288036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5" name="Image 2" descr="assets/nod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401" y="30277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36576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mecanismo oculto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429000" y="4480560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STAT3, MCL1 y la mitocondria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0" y="187452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172200" y="21305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6172200" y="288036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1" name="Image 3" descr="asset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01" y="302776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72200" y="36576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172200" y="4480560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Degradadores dirigidos de STAT3 (PROTAC)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686800" y="187452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915400" y="21305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8915400" y="288036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7" name="Image 4" descr="asset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801" y="302776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15400" y="36576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8915400" y="4480560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célula al paciente: eficacia in vitro, in vivo y en clínica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 CLÍNICO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Venetoclax cambió la LMA — pero la resistencia sigue matando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100584" cy="10058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728216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Venetoclax (Ven), inhibidor selectivo de BCL2, es hoy pilar del tratamiento de primera línea en LMA (Ven + FLAG-IDA, Ven + AZA/HMA).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862072"/>
            <a:ext cx="100584" cy="10058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71576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remisión inicial es alta, pero la recaída es casi inevitable por la persistencia de células madre hematopoyéticas leucémicas.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3849624"/>
            <a:ext cx="100584" cy="10058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7033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fallo a venetoclax no existe una terapia dirigida aprobada de rescate.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57200" y="4837176"/>
            <a:ext cx="100584" cy="10058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4690872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se asocia a disfunción mitocondrial, con sobreexpresión de la proteína antiapoptótica MCL1.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903720" y="1783080"/>
            <a:ext cx="4846320" cy="1965960"/>
          </a:xfrm>
          <a:prstGeom prst="roundRect">
            <a:avLst>
              <a:gd name="adj" fmla="val 4186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23760" y="1920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7223760" y="285292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 en LMA de nuevo diagnóstico, pese a la terapia estándar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3931920"/>
            <a:ext cx="4846320" cy="1965960"/>
          </a:xfrm>
          <a:prstGeom prst="roundRect">
            <a:avLst>
              <a:gd name="adj" fmla="val 4186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23760" y="40690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meses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7223760" y="49377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supervivencia mediana tras el fracaso a venetoclax en LMA en recaída/refractaria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nod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MECANISMO OCULTO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STAT3: un interruptor con dos localizaciones, dos efectos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STAT3 (Signal Transducer and Activator of Transcription 3) se activa por fosforilación en dos residuos distintos — y cada uno dirige un programa patogénico diferente en la LMA.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7432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Fosforilación en Tirosina-705 (pY705)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3657600"/>
            <a:ext cx="310896" cy="31089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657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35844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STAT3 se dimeriza y transloca al núcleo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777240" y="4370832"/>
            <a:ext cx="310896" cy="31089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370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42976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la transcripción de MCL1, gen antiapoptótico clave</a:t>
            </a:r>
            <a:endParaRPr lang="en-US" sz="1280" dirty="0"/>
          </a:p>
        </p:txBody>
      </p:sp>
      <p:sp>
        <p:nvSpPr>
          <p:cNvPr id="16" name="Shape 13"/>
          <p:cNvSpPr/>
          <p:nvPr/>
        </p:nvSpPr>
        <p:spPr>
          <a:xfrm>
            <a:off x="777240" y="5084064"/>
            <a:ext cx="310896" cy="310896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084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501091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MCL1 protege a la célula leucémica de la muerte inducida por venetoclax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6217920" y="251460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37960" y="27432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MITOCONDRIA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3796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Fosforilación en Serina-727 (pS727)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537960" y="3657600"/>
            <a:ext cx="310896" cy="3108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3657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95160" y="35844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“MitoSTAT3”, localizado en la cadena de transporte de electrones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6537960" y="4370832"/>
            <a:ext cx="310896" cy="3108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26" name="Text 23"/>
          <p:cNvSpPr/>
          <p:nvPr/>
        </p:nvSpPr>
        <p:spPr>
          <a:xfrm>
            <a:off x="6537960" y="4370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95160" y="42976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la respiración mitocondrial y la producción de ATP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6537960" y="5084064"/>
            <a:ext cx="310896" cy="3108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29" name="Text 26"/>
          <p:cNvSpPr/>
          <p:nvPr/>
        </p:nvSpPr>
        <p:spPr>
          <a:xfrm>
            <a:off x="6537960" y="5084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95160" y="501091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desregulación altera la estructura de las crestas mitocondriales</a:t>
            </a:r>
            <a:endParaRPr lang="en-US" sz="128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MECANISMO OCULTO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pacientes reales, el p-STAT3 predice el fracaso a venetoclax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fosfoproteómico en 138 pacientes con LMA tratados con regímenes basados en venetoclax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240280"/>
          <a:ext cx="6309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080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esquemática adaptada de la Fig. 2C–2D para ilustrar la tendencia publicada (no son valores digitalizados).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086600" y="2240280"/>
            <a:ext cx="4663440" cy="1691640"/>
          </a:xfrm>
          <a:prstGeom prst="roundRect">
            <a:avLst>
              <a:gd name="adj" fmla="val 4865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06640" y="2377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0.01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406640" y="2971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fosforilación p-STAT3(Y705) → peor supervivencia global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086600" y="4114800"/>
            <a:ext cx="4663440" cy="1691640"/>
          </a:xfrm>
          <a:prstGeom prst="roundRect">
            <a:avLst>
              <a:gd name="adj" fmla="val 4865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06640" y="4251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0.00049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406640" y="4846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fosforilación p-STAT3(S727) → peor supervivencia global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86600" y="5943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variables se mantienen como predictores independientes en el análisis multivariante (Cox), independientemente del régimen de quimioterapia, edad o cariotipo.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MECANISMO OCULTO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causal: STAT3 solo, ya es leucemogénico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murino STAT3C-VavCre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Ratones transgénicos con hiperactivación hematopoyética-específica de STAT3 (n = 17), sin ninguna otra mutación añadida.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74720"/>
            <a:ext cx="118872" cy="118872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33756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Sobreexpresión constitutiva de STAT3 en células hematopoyéticas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4133088"/>
            <a:ext cx="118872" cy="118872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9959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corta: 24–26 semanas hasta enfermedad manifiesta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791456"/>
            <a:ext cx="118872" cy="118872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65429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mieloide con destrucción de la arquitectura esplénica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“STAT3 hyperactivation is leukemogenic”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1783080"/>
            <a:ext cx="2734056" cy="1920240"/>
          </a:xfrm>
          <a:prstGeom prst="roundRect">
            <a:avLst>
              <a:gd name="adj" fmla="val 4286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63640" y="1984248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↑↑↑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263640" y="26974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Esplenomegalia y hepatomegalia significativas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329184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97696" y="1783080"/>
            <a:ext cx="2734056" cy="1920240"/>
          </a:xfrm>
          <a:prstGeom prst="roundRect">
            <a:avLst>
              <a:gd name="adj" fmla="val 4286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272016" y="1984248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272016" y="26974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Leucocitos totales (WBC)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272016" y="329184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89320" y="3977640"/>
            <a:ext cx="2734056" cy="1920240"/>
          </a:xfrm>
          <a:prstGeom prst="roundRect">
            <a:avLst>
              <a:gd name="adj" fmla="val 4286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4178808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6263640" y="489204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 (anemia)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63640" y="54864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997696" y="3977640"/>
            <a:ext cx="2734056" cy="1920240"/>
          </a:xfrm>
          <a:prstGeom prst="roundRect">
            <a:avLst>
              <a:gd name="adj" fmla="val 4286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272016" y="4178808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30" name="Text 27"/>
          <p:cNvSpPr/>
          <p:nvPr/>
        </p:nvSpPr>
        <p:spPr>
          <a:xfrm>
            <a:off x="9272016" y="489204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 (trombocitemia)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272016" y="54864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MECANISMO OCULTO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resistencia adquirida, STAT3 y MCL1 se disparan juntos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celulares de LMA expuestas de forma prolongada a venetoclax (MOLM13, MV411, SU-DHL1) desarrollan resistencia (Ven-Res) con sobreexpresión de STAT3 total y de su diana MCL1.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4688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080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0.05 vs. parental. Valores aproximados, adaptados de Fig. 2B.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309360" y="24688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629400" y="263347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STAT3 y MCL1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629400" y="30632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elevados también a nivel de proteína en las tres líneas Ven-Res (western blot, Fig. 2A), junto con BCL2 y BCL-xL.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434340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629400" y="45079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vida real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4937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no respondedores a Ven/decitabina muestran mayor expresión de STAT3 al inicio del tratamiento que los respondedores (p = 0.023).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MECANISMO OCULTO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MitoSTAT3 deforma la maquinaria energética de la célula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células Ven-Res y en muestras de pacientes, el exceso de p-STAT3(S727) mitocondrial se acompaña de crestas mitocondriales edematosas y “en nódulo” — la estructura donde ocurre la fosforilación oxidativa.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394960" cy="3383280"/>
          </a:xfrm>
          <a:prstGeom prst="roundRect">
            <a:avLst>
              <a:gd name="adj" fmla="val 2432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Mitocondria sana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371600" y="3474720"/>
            <a:ext cx="3566160" cy="1463040"/>
          </a:xfrm>
          <a:prstGeom prst="ellipse">
            <a:avLst/>
          </a:prstGeom>
          <a:solidFill>
            <a:srgbClr val="F7F7F8"/>
          </a:solidFill>
          <a:ln w="31750">
            <a:solidFill>
              <a:srgbClr val="0A7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99539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51253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02966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06394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8107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09821" y="3694176"/>
            <a:ext cx="0" cy="1024128"/>
          </a:xfrm>
          <a:prstGeom prst="line">
            <a:avLst/>
          </a:prstGeom>
          <a:noFill/>
          <a:ln w="25400">
            <a:solidFill>
              <a:srgbClr val="0A7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1663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Crestas laminares regulares — respiración eficiente y producción normal de ATP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2514600"/>
            <a:ext cx="5559552" cy="3383280"/>
          </a:xfrm>
          <a:prstGeom prst="roundRect">
            <a:avLst>
              <a:gd name="adj" fmla="val 2432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92240" y="274320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Mitocondria en resistencia (Ven-Res)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086600" y="3474720"/>
            <a:ext cx="3566160" cy="1463040"/>
          </a:xfrm>
          <a:prstGeom prst="ellipse">
            <a:avLst/>
          </a:prstGeom>
          <a:solidFill>
            <a:srgbClr val="F7F7F8"/>
          </a:solidFill>
          <a:ln w="31750">
            <a:solidFill>
              <a:srgbClr val="7A1F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32243" y="3884371"/>
            <a:ext cx="201168" cy="643738"/>
          </a:xfrm>
          <a:prstGeom prst="ellipse">
            <a:avLst/>
          </a:prstGeom>
          <a:ln w="25400">
            <a:solidFill>
              <a:srgbClr val="7A1F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9814" y="3884371"/>
            <a:ext cx="201168" cy="643738"/>
          </a:xfrm>
          <a:prstGeom prst="ellipse">
            <a:avLst/>
          </a:prstGeom>
          <a:ln w="25400">
            <a:solidFill>
              <a:srgbClr val="7A1F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87384" y="3884371"/>
            <a:ext cx="201168" cy="643738"/>
          </a:xfrm>
          <a:prstGeom prst="ellipse">
            <a:avLst/>
          </a:prstGeom>
          <a:ln w="25400">
            <a:solidFill>
              <a:srgbClr val="7A1F2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64954" y="3884371"/>
            <a:ext cx="201168" cy="643738"/>
          </a:xfrm>
          <a:prstGeom prst="ellipse">
            <a:avLst/>
          </a:prstGeom>
          <a:ln w="25400">
            <a:solidFill>
              <a:srgbClr val="7A1F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142525" y="3884371"/>
            <a:ext cx="201168" cy="643738"/>
          </a:xfrm>
          <a:prstGeom prst="ellipse">
            <a:avLst/>
          </a:prstGeom>
          <a:ln w="25400">
            <a:solidFill>
              <a:srgbClr val="7A1F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5166360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Crestas edematosas “en nódulo”, con mayor área de cresta/mitocondria — confirmado por microscopía electrónica en líneas celulares y en pacientes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SOLUCIÓN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Degradar STAT3, no solo inhibirlo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 de inhibidores clásicos de STAT3 fracasaron en clínica por falta de especificidad y mala biodisponibilidad. Los degradadores dirigidos (KTX-201, KTX-105, KT-333) resuelven ambos problemas.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2624328" cy="2926080"/>
          </a:xfrm>
          <a:prstGeom prst="roundRect">
            <a:avLst>
              <a:gd name="adj" fmla="val 313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834640"/>
            <a:ext cx="420624" cy="42062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12848" y="2807208"/>
            <a:ext cx="475488" cy="47548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1" name="Image 1" descr="assets/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475" y="293083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47472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Reconocimiento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85800" y="393192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degradador (PROTAC) se une simultáneamente a STAT3 y a la ligasa E3 VHL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63240" y="374904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3300984" y="2606040"/>
            <a:ext cx="2624328" cy="2926080"/>
          </a:xfrm>
          <a:prstGeom prst="roundRect">
            <a:avLst>
              <a:gd name="adj" fmla="val 313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9584" y="2834640"/>
            <a:ext cx="420624" cy="42062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3"/>
          <p:cNvSpPr/>
          <p:nvPr/>
        </p:nvSpPr>
        <p:spPr>
          <a:xfrm>
            <a:off x="3529584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056632" y="2807208"/>
            <a:ext cx="475488" cy="47548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9" name="Image 2" descr="asset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59" y="2930835"/>
            <a:ext cx="228234" cy="2282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29584" y="347472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Complejo ternario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3529584" y="393192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STAT3–degradador–VHL forma un complejo estable y específico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907024" y="374904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144768" y="2606040"/>
            <a:ext cx="2624328" cy="2926080"/>
          </a:xfrm>
          <a:prstGeom prst="roundRect">
            <a:avLst>
              <a:gd name="adj" fmla="val 313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73368" y="2834640"/>
            <a:ext cx="420624" cy="42062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0"/>
          <p:cNvSpPr/>
          <p:nvPr/>
        </p:nvSpPr>
        <p:spPr>
          <a:xfrm>
            <a:off x="6373368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7900416" y="2807208"/>
            <a:ext cx="475488" cy="47548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7" name="Image 3" descr="assets/nod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043" y="2930835"/>
            <a:ext cx="228234" cy="2282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73368" y="347472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Ubiquitinación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373368" y="393192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marca a STAT3 con cadenas de ubiquitina de forma rápida y selectiva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750808" y="374904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8988552" y="2606040"/>
            <a:ext cx="2624328" cy="2926080"/>
          </a:xfrm>
          <a:prstGeom prst="roundRect">
            <a:avLst>
              <a:gd name="adj" fmla="val 313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217152" y="2834640"/>
            <a:ext cx="420624" cy="42062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3" name="Text 27"/>
          <p:cNvSpPr/>
          <p:nvPr/>
        </p:nvSpPr>
        <p:spPr>
          <a:xfrm>
            <a:off x="9217152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10744200" y="2807208"/>
            <a:ext cx="475488" cy="47548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5" name="Image 4" descr="assets/scisso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827" y="2930835"/>
            <a:ext cx="228234" cy="22823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217152" y="347472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Degradación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9217152" y="393192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proteasoma elimina STAT3 — total y fosforilado — de la célula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457200" y="5760720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/>
        </p:spPr>
      </p:sp>
      <p:sp>
        <p:nvSpPr>
          <p:cNvPr id="39" name="Text 32"/>
          <p:cNvSpPr/>
          <p:nvPr/>
        </p:nvSpPr>
        <p:spPr>
          <a:xfrm>
            <a:off x="73152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degradación &gt;90% de STAT3 en células de LMA, sin afectar a la proteína homóloga STAT5 (selectividad de diana confirmada)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Selectivo, potente y proapoptótico in vitro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612898" cy="2286000"/>
          </a:xfrm>
          <a:prstGeom prst="roundRect">
            <a:avLst>
              <a:gd name="adj" fmla="val 3600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2130552"/>
            <a:ext cx="22105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2926080"/>
            <a:ext cx="221056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de STAT3 total y fosforilado a dosis nanomolares (24 h)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3344418" y="1874520"/>
            <a:ext cx="2612898" cy="2286000"/>
          </a:xfrm>
          <a:prstGeom prst="roundRect">
            <a:avLst>
              <a:gd name="adj" fmla="val 36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45586" y="2130552"/>
            <a:ext cx="22105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94.16 nM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545586" y="2926080"/>
            <a:ext cx="221056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IC₅₀ en células SU-DHL-1 (linfoma, alta expresión de STAT3)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31636" y="1874520"/>
            <a:ext cx="2612898" cy="2286000"/>
          </a:xfrm>
          <a:prstGeom prst="roundRect">
            <a:avLst>
              <a:gd name="adj" fmla="val 3600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32804" y="2130552"/>
            <a:ext cx="22105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↑↑↑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432804" y="2926080"/>
            <a:ext cx="221056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Inducción significativa de apoptosis (caspasa 3/7) a las 48 h en células Ven-Res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9118854" y="1874520"/>
            <a:ext cx="2612898" cy="2286000"/>
          </a:xfrm>
          <a:prstGeom prst="roundRect">
            <a:avLst>
              <a:gd name="adj" fmla="val 36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20022" y="2130552"/>
            <a:ext cx="22105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&gt;40%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9320022" y="2926080"/>
            <a:ext cx="221056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la despolarización mitocondrial dependiente de NOXA — menor dependencia de MCL1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457200" y="42793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dependencia funcional de MCL1 disminuye tras el tratamiento</a:t>
            </a:r>
            <a:endParaRPr lang="en-US" sz="16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4663440"/>
          <a:ext cx="73152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457200" y="6108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BH3 profiling, valores aproximados adaptados de Fig. 4F–G.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92440" y="4663440"/>
            <a:ext cx="3657600" cy="1325880"/>
          </a:xfrm>
          <a:prstGeom prst="roundRect">
            <a:avLst>
              <a:gd name="adj" fmla="val 6207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366760" y="47914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 de linaje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8366760" y="515721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diferenciación ni toxicidad observada en muestras sanas — el efecto es específico de células leucémicas madre/progenitoras.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degradador repara lo que STAT3 había deformado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tratamiento con KTX-201, la ultraestructura mitocondrial y la función respiratoria se normalizan progresivamente — en líneas celulares y en muestras primarias de pacientes Ven-Res.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058400" cy="0"/>
          </a:xfrm>
          <a:prstGeom prst="line">
            <a:avLst/>
          </a:prstGeom>
          <a:noFill/>
          <a:ln w="38100">
            <a:solidFill>
              <a:srgbClr val="E7E9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2376" y="3145536"/>
            <a:ext cx="201168" cy="201168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Crestas edematosas, disfunción respiratoria basal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51576" y="3145536"/>
            <a:ext cx="201168" cy="201168"/>
          </a:xfrm>
          <a:prstGeom prst="ellipse">
            <a:avLst/>
          </a:prstGeom>
          <a:solidFill>
            <a:srgbClr val="0E9C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3474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marcada de área, ancho y número de crestas anormales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780776" y="3145536"/>
            <a:ext cx="201168" cy="201168"/>
          </a:xfrm>
          <a:prstGeom prst="ellipse">
            <a:avLst/>
          </a:prstGeom>
          <a:solidFill>
            <a:srgbClr val="0A7A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91295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991295" y="3474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Morfología mitocondrial recuperada, cercana a células sanas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617720"/>
            <a:ext cx="3611880" cy="1463040"/>
          </a:xfrm>
          <a:prstGeom prst="roundRect">
            <a:avLst>
              <a:gd name="adj" fmla="val 56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3232" y="478231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de oxígeno (OCR)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" y="5166360"/>
            <a:ext cx="3099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producción de ATP y la respiración basal, elevadas en Ven-Res, descienden significativamente tras KTX-201 (ensayo Seahorse)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88536" y="4617720"/>
            <a:ext cx="3611880" cy="1463040"/>
          </a:xfrm>
          <a:prstGeom prst="roundRect">
            <a:avLst>
              <a:gd name="adj" fmla="val 56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44568" y="478231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Fracción mitocondrial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44568" y="5166360"/>
            <a:ext cx="3099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fraccionamiento subcelular confirma la caída de STAT3 total, p-STAT3(S727) y MCL1 específicamente dentro de la mitocondria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19872" y="4617720"/>
            <a:ext cx="3611880" cy="1463040"/>
          </a:xfrm>
          <a:prstGeom prst="roundRect">
            <a:avLst>
              <a:gd name="adj" fmla="val 56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75904" y="478231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Muestras de pacientes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75904" y="5166360"/>
            <a:ext cx="3099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frescas de pacientes Ven-Res muestran la misma reversión estructural por microscopía electrónica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drop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muestras primarias, restaura la diferenciación mieloide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de unidades formadoras de colonias (CFU) en PBMC de pacientes con LMA y LMA Ven-Res tratadas con KTX-201 durante 14 días.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6060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 LMA-427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29443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LMA naïve a tratamiento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9776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7E9ED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3977640"/>
            <a:ext cx="553212" cy="29260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4" name="Text 11"/>
          <p:cNvSpPr/>
          <p:nvPr/>
        </p:nvSpPr>
        <p:spPr>
          <a:xfrm>
            <a:off x="2926080" y="3794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375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KTX-201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37560" y="39776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7E9ED"/>
          </a:solidFill>
          <a:ln/>
        </p:spPr>
      </p:sp>
      <p:sp>
        <p:nvSpPr>
          <p:cNvPr id="18" name="Shape 15"/>
          <p:cNvSpPr/>
          <p:nvPr/>
        </p:nvSpPr>
        <p:spPr>
          <a:xfrm>
            <a:off x="3337560" y="3977640"/>
            <a:ext cx="1764243" cy="292608"/>
          </a:xfrm>
          <a:prstGeom prst="rect">
            <a:avLst/>
          </a:prstGeom>
          <a:solidFill>
            <a:srgbClr val="0E9C9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4348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CD11b⁺/CD14⁺ (diferenciación mieloide) por citometría de flujo tras ensayo CFU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51663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+60.2 puntos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263640" y="237744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26060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 Ven-Res AML-101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629400" y="29443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LMA resistente a venetoclax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294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29400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29400" y="39776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7E9E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29400" y="3977640"/>
            <a:ext cx="496885" cy="29260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8732520" y="3794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1440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KTX-201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3685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144000" y="39776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7E9ED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4000" y="3977640"/>
            <a:ext cx="690006" cy="292608"/>
          </a:xfrm>
          <a:prstGeom prst="rect">
            <a:avLst/>
          </a:prstGeom>
          <a:solidFill>
            <a:srgbClr val="0E9C90"/>
          </a:solidFill>
          <a:ln/>
        </p:spPr>
      </p:sp>
      <p:sp>
        <p:nvSpPr>
          <p:cNvPr id="33" name="Text 30"/>
          <p:cNvSpPr/>
          <p:nvPr/>
        </p:nvSpPr>
        <p:spPr>
          <a:xfrm>
            <a:off x="6629400" y="44348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CD11b⁺/CD14⁺ (diferenciación mieloide) por citometría de flujo tras ensayo CFU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629400" y="51663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+9.6 puntos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syri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validación definitiva: modelos animales de LMA Ven-Res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11274552" cy="1417320"/>
          </a:xfrm>
          <a:prstGeom prst="roundRect">
            <a:avLst>
              <a:gd name="adj" fmla="val 580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084832"/>
            <a:ext cx="24985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ratón NSG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4360" y="2468880"/>
            <a:ext cx="24985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Irradiación subletal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92958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75838" y="2084832"/>
            <a:ext cx="24985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Injerto IV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275838" y="2468880"/>
            <a:ext cx="24985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MOLM13 Ven-Res (CDX) o células de paciente Ven-Res (PDX)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74436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57316" y="2084832"/>
            <a:ext cx="24985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57316" y="2468880"/>
            <a:ext cx="24985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KT-333, 30 mg/kg IV semanal vs. vehículo (PBS)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55914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38794" y="2084832"/>
            <a:ext cx="24985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38794" y="2468880"/>
            <a:ext cx="24985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Médula ósea/bazo a semana 2 · supervivencia global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STAT3 y de su diana MCL1 en el bazo, 48 h tras la dosis (modelo CDX)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−60%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3152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p-STAT3 (Y705)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88536" y="41605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62856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4562856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STAT3 total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119872" y="41605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94192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8394192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MCL1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" name="Image 0" descr="assets/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resultado que realmente importa: supervivencia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xenoinjerto derivado de paciente (PDX) de LMA sistémica resistente a venetoclax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19456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080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esquemática adaptada de la Fig. 7I para ilustrar la tendencia publicada.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086600" y="2194560"/>
            <a:ext cx="4663440" cy="1965960"/>
          </a:xfrm>
          <a:prstGeom prst="roundRect">
            <a:avLst>
              <a:gd name="adj" fmla="val 4186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06640" y="23774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 →  92 días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7406640" y="3154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mediana: vehículo vs. KT-333 (+21%)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086600" y="4343400"/>
            <a:ext cx="4663440" cy="1691640"/>
          </a:xfrm>
          <a:prstGeom prst="roundRect">
            <a:avLst>
              <a:gd name="adj" fmla="val 4865"/>
            </a:avLst>
          </a:prstGeom>
          <a:solidFill>
            <a:srgbClr val="F4E7E8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06640" y="45079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0.0027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406640" y="51206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de supervivencia estadísticamente significativo con una sola diana molecular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" name="Image 0" descr="asset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7008" y="8869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mesa de laboratorio a la cabecera del paciente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2834640"/>
            <a:ext cx="10149840" cy="0"/>
          </a:xfrm>
          <a:prstGeom prst="line">
            <a:avLst/>
          </a:prstGeom>
          <a:noFill/>
          <a:ln w="50800">
            <a:solidFill>
              <a:srgbClr val="E7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2688336"/>
            <a:ext cx="292608" cy="292608"/>
          </a:xfrm>
          <a:prstGeom prst="ellipse">
            <a:avLst/>
          </a:prstGeom>
          <a:solidFill>
            <a:srgbClr val="1B2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 preclínico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STAT3/MitoSTAT3 como impulsor de resistencia; degradadores KTX-201/105 en células y muestras de pacientes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59936" y="2688336"/>
            <a:ext cx="292608" cy="292608"/>
          </a:xfrm>
          <a:prstGeom prst="ellipse">
            <a:avLst/>
          </a:prstGeom>
          <a:solidFill>
            <a:srgbClr val="1B2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animales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71800" y="31546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CDX y PDX de LMA Ven-Res: KT-333 reduce STAT3/MCL1 y mejora la supervivencia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43216" y="2688336"/>
            <a:ext cx="292608" cy="292608"/>
          </a:xfrm>
          <a:prstGeom prst="ellipse">
            <a:avLst/>
          </a:prstGeom>
          <a:solidFill>
            <a:srgbClr val="0E9C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 clínico Fase 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31546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KT-333, degradador de STAT3 de grado clínico, actualmente en investigación humana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826496" y="2688336"/>
            <a:ext cx="292608" cy="292608"/>
          </a:xfrm>
          <a:prstGeom prst="ellipse">
            <a:avLst/>
          </a:prstGeom>
          <a:solidFill>
            <a:srgbClr val="8A93A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65615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265615" y="31546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combinación racional en LMA/SMD de alto riesgo y resistencia a venetoclax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5166360"/>
            <a:ext cx="10149840" cy="1234440"/>
          </a:xfrm>
          <a:prstGeom prst="roundRect">
            <a:avLst>
              <a:gd name="adj" fmla="val 6667"/>
            </a:avLst>
          </a:prstGeom>
          <a:solidFill>
            <a:srgbClr val="E3F4F2"/>
          </a:solidFill>
          <a:ln/>
          <a:effectLst>
            <a:outerShdw sx="100000" sy="100000" kx="0" ky="0" algn="bl" rotWithShape="0" blurRad="114300" dist="38100" dir="5400000">
              <a:srgbClr val="1B2A41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544068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1" name="Image 1" descr="assets/hospit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01" y="5607101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20240" y="534924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NCT05225584 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clínico Fase 1 de KT-333 en curso, con datos de seguridad y farmacodinámica preliminares ya disponibles en neoplasias hematológicas y tumores sólidos avanzados.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669280" cy="5669280"/>
          </a:xfrm>
          <a:prstGeom prst="ellipse">
            <a:avLst/>
          </a:prstGeom>
          <a:solidFill>
            <a:srgbClr val="2F446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480560"/>
            <a:ext cx="4023360" cy="4023360"/>
          </a:xfrm>
          <a:prstGeom prst="ellipse">
            <a:avLst/>
          </a:prstGeom>
          <a:solidFill>
            <a:srgbClr val="2F44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trabajo cambia en nuestra forma de pensar la resistencia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7" name="Image 0" descr="assets/nod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STAT3 es leucemogénico por sí solo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hiperactivación basta para inducir una neoplasia mieloide en un modelo murino, sin mutaciones adicionales.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822960" y="3300984"/>
            <a:ext cx="502920" cy="50292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1" name="Image 1" descr="asset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343174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264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resistencia a venetoclax tiene un componente mitocondrial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364845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MitoSTAT3 (p-STAT3-S727) daña la estructura y función respiratoria de la mitocondria en la LMA Ven-Res.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22960" y="4636008"/>
            <a:ext cx="502920" cy="50292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5" name="Image 2" descr="asset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76676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599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STAT3 y p-STAT3 predicen el pronóstico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independientes de peor supervivencia global en 138 pacientes tratados con venetoclax.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9" name="Image 3" descr="asset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99" y="209671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es una diana farmacológica real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949440" y="23134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degradadores STAT3 (PROTAC) son selectivos, revierten la disfunción mitocondrial y mejoran la supervivencia in vivo.</a:t>
            </a:r>
            <a:endParaRPr lang="en-US" sz="1180" dirty="0"/>
          </a:p>
        </p:txBody>
      </p:sp>
      <p:sp>
        <p:nvSpPr>
          <p:cNvPr id="22" name="Shape 16"/>
          <p:cNvSpPr/>
          <p:nvPr/>
        </p:nvSpPr>
        <p:spPr>
          <a:xfrm>
            <a:off x="6263640" y="3300984"/>
            <a:ext cx="502920" cy="50292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3" name="Image 4" descr="assets/tren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99" y="3431743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264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a la clínica ya empezó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949440" y="364845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KT-333 se encuentra en ensayo clínico Fase 1 (NCT05225584) para neoplasias hematológicas resistentes.</a:t>
            </a:r>
            <a:endParaRPr lang="en-US" sz="118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et al. • Leukemia (2026) 40:717–729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58161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474720"/>
            <a:ext cx="5120640" cy="512064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Shape 2"/>
          <p:cNvSpPr/>
          <p:nvPr/>
        </p:nvSpPr>
        <p:spPr>
          <a:xfrm>
            <a:off x="5212080" y="1371600"/>
            <a:ext cx="777240" cy="77724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5" name="Image 0" descr="asset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4162" y="15736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A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194560" y="466344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58161F"/>
          </a:solidFill>
          <a:ln/>
        </p:spPr>
      </p:sp>
      <p:sp>
        <p:nvSpPr>
          <p:cNvPr id="9" name="Text 6"/>
          <p:cNvSpPr/>
          <p:nvPr/>
        </p:nvSpPr>
        <p:spPr>
          <a:xfrm>
            <a:off x="2468880" y="482803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Chakraborty S, Morganti C, Zaldana K, et al. Leukemia (2026) 40:717–729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68880" y="51937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10.1038/s41375-026-02883-9  ·  Open Access (CC BY 4.0)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2026-08-22T15:21:25Z</dcterms:created>
  <dcterms:modified xsi:type="dcterms:W3CDTF">2026-08-22T15:21:25Z</dcterms:modified>
</cp:coreProperties>
</file>